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8288000" cy="10287000"/>
  <p:notesSz cx="6858000" cy="9144000"/>
  <p:embeddedFontLst>
    <p:embeddedFont>
      <p:font typeface="Times New Roman Bold" panose="02020803070505020304"/>
      <p:bold r:id="rId23"/>
    </p:embeddedFont>
    <p:embeddedFont>
      <p:font typeface="Arial Bold" panose="020B0704020202020204"/>
      <p:bold r:id="rId24"/>
    </p:embeddedFont>
    <p:embeddedFont>
      <p:font typeface="Poppins" panose="00000500000000000000"/>
      <p:regular r:id="rId25"/>
    </p:embeddedFont>
    <p:embeddedFont>
      <p:font typeface="Poppins Bold" panose="00000800000000000000"/>
      <p:bold r:id="rId26"/>
    </p:embeddedFont>
    <p:embeddedFont>
      <p:font typeface="TT Interphases" panose="02000503020000020004"/>
      <p:regular r:id="rId27"/>
    </p:embeddedFont>
    <p:embeddedFont>
      <p:font typeface="Calibri (MS) Bold" panose="020F0702030404030204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1306" y="45720"/>
            <a:ext cx="18286219" cy="10041150"/>
            <a:chOff x="0" y="0"/>
            <a:chExt cx="24381625" cy="13388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1588" cy="13388212"/>
            </a:xfrm>
            <a:custGeom>
              <a:avLst/>
              <a:gdLst/>
              <a:ahLst/>
              <a:cxnLst/>
              <a:rect l="l" t="t" r="r" b="b"/>
              <a:pathLst>
                <a:path w="24381588" h="13388212">
                  <a:moveTo>
                    <a:pt x="0" y="0"/>
                  </a:moveTo>
                  <a:lnTo>
                    <a:pt x="24381588" y="0"/>
                  </a:lnTo>
                  <a:lnTo>
                    <a:pt x="24381588" y="13388212"/>
                  </a:lnTo>
                  <a:lnTo>
                    <a:pt x="0" y="13388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420"/>
              </a:stretch>
            </a:blipFill>
          </p:spPr>
          <p:txBody>
            <a:bodyPr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00780" y="5584584"/>
            <a:ext cx="11374298" cy="2781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AC </a:t>
            </a:r>
            <a:r>
              <a:rPr lang="en-US" sz="6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Market Analysis Using Flipkart Data</a:t>
            </a:r>
            <a:endParaRPr lang="en-US" sz="6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720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784005" y="8337309"/>
            <a:ext cx="4967621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1">
                <a:solidFill>
                  <a:srgbClr val="C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Team Members</a:t>
            </a:r>
            <a:endParaRPr lang="en-US" sz="3600" b="1">
              <a:solidFill>
                <a:srgbClr val="C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4225" y="8880475"/>
            <a:ext cx="3476625" cy="8439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Tarun Chouhan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di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KunsothBabulal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915389" y="9027871"/>
            <a:ext cx="2977753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Batch No:487</a:t>
            </a:r>
            <a:endParaRPr lang="en-US" sz="420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5473048" y="220439"/>
            <a:ext cx="15773400" cy="2689098"/>
            <a:chOff x="0" y="0"/>
            <a:chExt cx="21031200" cy="35854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3585464"/>
            </a:xfrm>
            <a:custGeom>
              <a:avLst/>
              <a:gdLst/>
              <a:ahLst/>
              <a:cxnLst/>
              <a:rect l="l" t="t" r="r" b="b"/>
              <a:pathLst>
                <a:path w="21031200" h="3585464">
                  <a:moveTo>
                    <a:pt x="0" y="0"/>
                  </a:moveTo>
                  <a:lnTo>
                    <a:pt x="21031200" y="0"/>
                  </a:lnTo>
                  <a:lnTo>
                    <a:pt x="21031200" y="3585464"/>
                  </a:lnTo>
                  <a:lnTo>
                    <a:pt x="0" y="3585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322" b="-5126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21031200" cy="35664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7560"/>
                </a:lnSpc>
              </a:pPr>
              <a:r>
                <a:rPr lang="en-US" sz="7000" b="1">
                  <a:solidFill>
                    <a:srgbClr val="C00000"/>
                  </a:solidFill>
                  <a:latin typeface="Poppins Bold" panose="00000800000000000000"/>
                  <a:ea typeface="Poppins Bold" panose="00000800000000000000"/>
                  <a:cs typeface="Poppins Bold" panose="00000800000000000000"/>
                  <a:sym typeface="Poppins Bold" panose="00000800000000000000"/>
                </a:rPr>
                <a:t>ABSTRACT</a:t>
              </a:r>
              <a:endParaRPr lang="en-US" sz="7000" b="1">
                <a:solidFill>
                  <a:srgbClr val="C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endParaRPr>
            </a:p>
            <a:p>
              <a:pPr algn="just">
                <a:lnSpc>
                  <a:spcPts val="756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45980" y="1924068"/>
            <a:ext cx="14289200" cy="503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2100">
                <a:solidFill>
                  <a:srgbClr val="000000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What key factors influence the price of air conditioners across different models on Flipkart?</a:t>
            </a:r>
            <a:endParaRPr lang="en-US" sz="2100">
              <a:solidFill>
                <a:srgbClr val="000000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2520"/>
              </a:lnSpc>
            </a:pPr>
          </a:p>
          <a:p>
            <a:pPr marL="453390" lvl="1" indent="-226695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2100">
                <a:solidFill>
                  <a:srgbClr val="000000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W</a:t>
            </a:r>
            <a:r>
              <a:rPr lang="en-US" sz="2100">
                <a:solidFill>
                  <a:srgbClr val="000000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hat factors influ</a:t>
            </a:r>
            <a:r>
              <a:rPr lang="en-US" sz="2100">
                <a:solidFill>
                  <a:srgbClr val="000000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ence customer ratings and overall satisfaction of air conditioners?</a:t>
            </a:r>
            <a:endParaRPr lang="en-US" sz="2100">
              <a:solidFill>
                <a:srgbClr val="000000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2520"/>
              </a:lnSpc>
            </a:pPr>
          </a:p>
          <a:p>
            <a:pPr marL="453390" lvl="1" indent="-226695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2100">
                <a:solidFill>
                  <a:srgbClr val="000000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What factors affect the energy usage and efficiency of air conditioners?</a:t>
            </a:r>
            <a:endParaRPr lang="en-US" sz="2100">
              <a:solidFill>
                <a:srgbClr val="000000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2520"/>
              </a:lnSpc>
            </a:pPr>
          </a:p>
          <a:p>
            <a:pPr marL="453390" lvl="1" indent="-226695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2100">
                <a:solidFill>
                  <a:srgbClr val="000000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Web scraping was used to collect air conditioner data directly from Flipkart for real time and accurate information.</a:t>
            </a:r>
            <a:endParaRPr lang="en-US" sz="2100">
              <a:solidFill>
                <a:srgbClr val="000000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2520"/>
              </a:lnSpc>
            </a:pPr>
          </a:p>
          <a:p>
            <a:pPr marL="453390" lvl="1" indent="-226695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2100">
                <a:solidFill>
                  <a:srgbClr val="000000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Data cleaning and data manipulation were performed to handle missing values, remove inconsistencies and prepare the dataset for analysis.</a:t>
            </a:r>
            <a:endParaRPr lang="en-US" sz="2100">
              <a:solidFill>
                <a:srgbClr val="000000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2520"/>
              </a:lnSpc>
            </a:pPr>
          </a:p>
          <a:p>
            <a:pPr marL="453390" lvl="1" indent="-226695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2100">
                <a:solidFill>
                  <a:srgbClr val="000000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Exploratory Data Analysis (EDA) was conducted to analyze patterns and understand relationships between price, ratings and energy usage across different AC brands and models.</a:t>
            </a:r>
            <a:endParaRPr lang="en-US" sz="2100">
              <a:solidFill>
                <a:srgbClr val="000000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marL="453390" lvl="1" indent="-226695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2100">
                <a:solidFill>
                  <a:srgbClr val="000000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These insights help buyers choose better ACs and brands understand market trends.</a:t>
            </a:r>
            <a:endParaRPr lang="en-US" sz="2100">
              <a:solidFill>
                <a:srgbClr val="000000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87703" y="1754438"/>
            <a:ext cx="8660476" cy="4951193"/>
            <a:chOff x="0" y="0"/>
            <a:chExt cx="19666733" cy="112434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66796" cy="11243456"/>
            </a:xfrm>
            <a:custGeom>
              <a:avLst/>
              <a:gdLst/>
              <a:ahLst/>
              <a:cxnLst/>
              <a:rect l="l" t="t" r="r" b="b"/>
              <a:pathLst>
                <a:path w="19666796" h="11243456">
                  <a:moveTo>
                    <a:pt x="0" y="0"/>
                  </a:moveTo>
                  <a:lnTo>
                    <a:pt x="19666796" y="0"/>
                  </a:lnTo>
                  <a:lnTo>
                    <a:pt x="19666796" y="11243456"/>
                  </a:lnTo>
                  <a:lnTo>
                    <a:pt x="0" y="11243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419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8848179" y="1754438"/>
            <a:ext cx="9439821" cy="6166406"/>
          </a:xfrm>
          <a:custGeom>
            <a:avLst/>
            <a:gdLst/>
            <a:ahLst/>
            <a:cxnLst/>
            <a:rect l="l" t="t" r="r" b="b"/>
            <a:pathLst>
              <a:path w="9439821" h="6166406">
                <a:moveTo>
                  <a:pt x="0" y="0"/>
                </a:moveTo>
                <a:lnTo>
                  <a:pt x="9439821" y="0"/>
                </a:lnTo>
                <a:lnTo>
                  <a:pt x="9439821" y="6166406"/>
                </a:lnTo>
                <a:lnTo>
                  <a:pt x="0" y="6166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430441" y="547543"/>
            <a:ext cx="7427119" cy="279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C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WEB SCRAPING WORKFLOW</a:t>
            </a:r>
            <a:endParaRPr lang="en-US" sz="4200" b="1">
              <a:solidFill>
                <a:srgbClr val="C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8400"/>
              </a:lnSpc>
            </a:pP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310813" y="1550097"/>
            <a:ext cx="13329585" cy="5912712"/>
          </a:xfrm>
          <a:custGeom>
            <a:avLst/>
            <a:gdLst/>
            <a:ahLst/>
            <a:cxnLst/>
            <a:rect l="l" t="t" r="r" b="b"/>
            <a:pathLst>
              <a:path w="13329585" h="5912712">
                <a:moveTo>
                  <a:pt x="0" y="0"/>
                </a:moveTo>
                <a:lnTo>
                  <a:pt x="13329585" y="0"/>
                </a:lnTo>
                <a:lnTo>
                  <a:pt x="13329585" y="5912712"/>
                </a:lnTo>
                <a:lnTo>
                  <a:pt x="0" y="5912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6" b="-105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971187" y="371475"/>
            <a:ext cx="5676067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DATASET OVERVIEW</a:t>
            </a:r>
            <a:endParaRPr lang="en-US" sz="42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855920" y="4797035"/>
            <a:ext cx="13041193" cy="4264238"/>
          </a:xfrm>
          <a:custGeom>
            <a:avLst/>
            <a:gdLst/>
            <a:ahLst/>
            <a:cxnLst/>
            <a:rect l="l" t="t" r="r" b="b"/>
            <a:pathLst>
              <a:path w="13041193" h="4264238">
                <a:moveTo>
                  <a:pt x="0" y="0"/>
                </a:moveTo>
                <a:lnTo>
                  <a:pt x="13041193" y="0"/>
                </a:lnTo>
                <a:lnTo>
                  <a:pt x="13041193" y="4264238"/>
                </a:lnTo>
                <a:lnTo>
                  <a:pt x="0" y="4264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0154" y="2136753"/>
            <a:ext cx="8963846" cy="2444081"/>
          </a:xfrm>
          <a:custGeom>
            <a:avLst/>
            <a:gdLst/>
            <a:ahLst/>
            <a:cxnLst/>
            <a:rect l="l" t="t" r="r" b="b"/>
            <a:pathLst>
              <a:path w="8963846" h="2444081">
                <a:moveTo>
                  <a:pt x="0" y="0"/>
                </a:moveTo>
                <a:lnTo>
                  <a:pt x="8963846" y="0"/>
                </a:lnTo>
                <a:lnTo>
                  <a:pt x="8963846" y="2444081"/>
                </a:lnTo>
                <a:lnTo>
                  <a:pt x="0" y="244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" b="-164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69301" y="2104284"/>
            <a:ext cx="7889999" cy="2473676"/>
          </a:xfrm>
          <a:custGeom>
            <a:avLst/>
            <a:gdLst/>
            <a:ahLst/>
            <a:cxnLst/>
            <a:rect l="l" t="t" r="r" b="b"/>
            <a:pathLst>
              <a:path w="7889999" h="2473676">
                <a:moveTo>
                  <a:pt x="0" y="0"/>
                </a:moveTo>
                <a:lnTo>
                  <a:pt x="7889999" y="0"/>
                </a:lnTo>
                <a:lnTo>
                  <a:pt x="7889999" y="2473676"/>
                </a:lnTo>
                <a:lnTo>
                  <a:pt x="0" y="2473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944" b="-771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83186" y="170709"/>
            <a:ext cx="11172230" cy="19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 CLEANING &amp; DATA MANIPULATION</a:t>
            </a:r>
            <a:endParaRPr lang="en-US" sz="42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180154" y="1447059"/>
            <a:ext cx="5049151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Ex 1 – Price Cleaning</a:t>
            </a:r>
            <a:endParaRPr lang="en-US" sz="4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16754" y="1447059"/>
            <a:ext cx="592609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Ex 2 – Remove Duplicates</a:t>
            </a:r>
            <a:endParaRPr lang="en-US" sz="4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704730" y="9239250"/>
            <a:ext cx="7153019" cy="19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Ex 3 – Extract Brand &amp; Year</a:t>
            </a:r>
            <a:endParaRPr lang="en-US" sz="4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471727" y="1028700"/>
            <a:ext cx="10459559" cy="8122776"/>
          </a:xfrm>
          <a:custGeom>
            <a:avLst/>
            <a:gdLst/>
            <a:ahLst/>
            <a:cxnLst/>
            <a:rect l="l" t="t" r="r" b="b"/>
            <a:pathLst>
              <a:path w="10459559" h="8122776">
                <a:moveTo>
                  <a:pt x="0" y="0"/>
                </a:moveTo>
                <a:lnTo>
                  <a:pt x="10459560" y="0"/>
                </a:lnTo>
                <a:lnTo>
                  <a:pt x="10459560" y="8122776"/>
                </a:lnTo>
                <a:lnTo>
                  <a:pt x="0" y="8122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" t="-932" r="-523" b="-93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189080" y="52387"/>
            <a:ext cx="9909840" cy="19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CLEANED</a:t>
            </a:r>
            <a:r>
              <a:rPr lang="en-US" sz="42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AND STRUCTURED DATA</a:t>
            </a:r>
            <a:endParaRPr lang="en-US" sz="42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79238" y="1497806"/>
            <a:ext cx="8864762" cy="6166406"/>
          </a:xfrm>
          <a:custGeom>
            <a:avLst/>
            <a:gdLst/>
            <a:ahLst/>
            <a:cxnLst/>
            <a:rect l="l" t="t" r="r" b="b"/>
            <a:pathLst>
              <a:path w="8864762" h="6166406">
                <a:moveTo>
                  <a:pt x="0" y="0"/>
                </a:moveTo>
                <a:lnTo>
                  <a:pt x="8864762" y="0"/>
                </a:lnTo>
                <a:lnTo>
                  <a:pt x="8864762" y="6166406"/>
                </a:lnTo>
                <a:lnTo>
                  <a:pt x="0" y="6166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03398" y="1495873"/>
            <a:ext cx="9084602" cy="6168339"/>
          </a:xfrm>
          <a:custGeom>
            <a:avLst/>
            <a:gdLst/>
            <a:ahLst/>
            <a:cxnLst/>
            <a:rect l="l" t="t" r="r" b="b"/>
            <a:pathLst>
              <a:path w="9084602" h="6168339">
                <a:moveTo>
                  <a:pt x="0" y="0"/>
                </a:moveTo>
                <a:lnTo>
                  <a:pt x="9084602" y="0"/>
                </a:lnTo>
                <a:lnTo>
                  <a:pt x="9084602" y="6168339"/>
                </a:lnTo>
                <a:lnTo>
                  <a:pt x="0" y="6168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9909" y="8774368"/>
            <a:ext cx="10965538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</a:p>
          <a:p>
            <a:pPr marL="474980" lvl="1" indent="-237490" algn="l">
              <a:lnSpc>
                <a:spcPts val="26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Price is right skewed — majority ACs priced ₹28k–₹40k, few luxury 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outliers above ₹60k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74980" lvl="1" indent="-237490" algn="l">
              <a:lnSpc>
                <a:spcPts val="26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Ratings are left skewed — most ACs rated 4.2, customers are generally satisfied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-3134876" y="8479093"/>
            <a:ext cx="1096553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</a:t>
            </a: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rvations</a:t>
            </a:r>
            <a:endParaRPr lang="en-US" sz="38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62363" y="202406"/>
            <a:ext cx="6082070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UNIV</a:t>
            </a:r>
            <a:r>
              <a:rPr lang="en-US" sz="42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ARIATE ANALYSIS</a:t>
            </a:r>
            <a:endParaRPr lang="en-US" sz="42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463625"/>
            <a:ext cx="16689391" cy="6856451"/>
          </a:xfrm>
          <a:custGeom>
            <a:avLst/>
            <a:gdLst/>
            <a:ahLst/>
            <a:cxnLst/>
            <a:rect l="l" t="t" r="r" b="b"/>
            <a:pathLst>
              <a:path w="16689391" h="6856451">
                <a:moveTo>
                  <a:pt x="0" y="0"/>
                </a:moveTo>
                <a:lnTo>
                  <a:pt x="16689391" y="0"/>
                </a:lnTo>
                <a:lnTo>
                  <a:pt x="16689391" y="6856452"/>
                </a:lnTo>
                <a:lnTo>
                  <a:pt x="0" y="6856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166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24663" y="8258299"/>
            <a:ext cx="10188298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0" lvl="1" indent="-237490" algn="l">
              <a:lnSpc>
                <a:spcPts val="26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64.4% ACs a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 3-star (budget) vs 32% are 5-star (premium) — cl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ea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ar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k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et s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pli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74980" lvl="1" indent="-237490" algn="l">
              <a:lnSpc>
                <a:spcPts val="26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61.5%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ACs a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 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.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5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to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n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— stand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ar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n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dian b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oom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s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ize domin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at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th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market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-3132115" y="7634731"/>
            <a:ext cx="1096553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</a:t>
            </a: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rvations</a:t>
            </a:r>
            <a:endParaRPr lang="en-US" sz="38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12414" y="168358"/>
            <a:ext cx="8117661" cy="7028123"/>
          </a:xfrm>
          <a:custGeom>
            <a:avLst/>
            <a:gdLst/>
            <a:ahLst/>
            <a:cxnLst/>
            <a:rect l="l" t="t" r="r" b="b"/>
            <a:pathLst>
              <a:path w="8117661" h="7028123">
                <a:moveTo>
                  <a:pt x="0" y="0"/>
                </a:moveTo>
                <a:lnTo>
                  <a:pt x="8117661" y="0"/>
                </a:lnTo>
                <a:lnTo>
                  <a:pt x="8117661" y="7028123"/>
                </a:lnTo>
                <a:lnTo>
                  <a:pt x="0" y="70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905247" y="397962"/>
            <a:ext cx="10154201" cy="6954140"/>
          </a:xfrm>
          <a:custGeom>
            <a:avLst/>
            <a:gdLst/>
            <a:ahLst/>
            <a:cxnLst/>
            <a:rect l="l" t="t" r="r" b="b"/>
            <a:pathLst>
              <a:path w="10154201" h="6954140">
                <a:moveTo>
                  <a:pt x="0" y="0"/>
                </a:moveTo>
                <a:lnTo>
                  <a:pt x="10154201" y="0"/>
                </a:lnTo>
                <a:lnTo>
                  <a:pt x="10154201" y="6954139"/>
                </a:lnTo>
                <a:lnTo>
                  <a:pt x="0" y="6954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25" t="-339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80674" y="8152333"/>
            <a:ext cx="9259134" cy="201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</a:p>
          <a:p>
            <a:pPr marL="474980" lvl="1" indent="-237490" algn="l">
              <a:lnSpc>
                <a:spcPts val="2640"/>
              </a:lnSpc>
              <a:buFont typeface="Arial" panose="020B0604020202020204"/>
              <a:buChar char="•"/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Panasonic has th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 most ACs listed (73), followed by Voltas and Godrej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74980" lvl="1" indent="-237490" algn="l">
              <a:lnSpc>
                <a:spcPts val="26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Top 5 brands tog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ethe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k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 u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 more 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than 70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%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of all ACs on Flipka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rt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74980" lvl="1" indent="-237490" algn="l">
              <a:lnSpc>
                <a:spcPts val="26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Most ACs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use either around 750W o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 950W of power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74980" lvl="1" indent="-237490" algn="l">
              <a:lnSpc>
                <a:spcPts val="26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This 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is b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ecause 1-t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on ACs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us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 less power 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and 1.5-ton ACs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us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</a:t>
            </a: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more power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-3060291" y="7857058"/>
            <a:ext cx="1096553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</a:t>
            </a: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rvations</a:t>
            </a:r>
            <a:endParaRPr lang="en-US" sz="38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1917846" y="0"/>
            <a:ext cx="7885147" cy="2557065"/>
            <a:chOff x="0" y="0"/>
            <a:chExt cx="10513530" cy="3409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513528" cy="3409419"/>
            </a:xfrm>
            <a:custGeom>
              <a:avLst/>
              <a:gdLst/>
              <a:ahLst/>
              <a:cxnLst/>
              <a:rect l="l" t="t" r="r" b="b"/>
              <a:pathLst>
                <a:path w="10513528" h="3409419">
                  <a:moveTo>
                    <a:pt x="0" y="0"/>
                  </a:moveTo>
                  <a:lnTo>
                    <a:pt x="10513528" y="0"/>
                  </a:lnTo>
                  <a:lnTo>
                    <a:pt x="10513528" y="3409419"/>
                  </a:lnTo>
                  <a:lnTo>
                    <a:pt x="0" y="34094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797" b="1062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513530" cy="344752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5"/>
                </a:lnSpc>
              </a:pPr>
              <a:r>
                <a:rPr lang="en-US" sz="4200" b="1">
                  <a:solidFill>
                    <a:srgbClr val="C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BIVARIATE ANALYSIS</a:t>
              </a:r>
              <a:endParaRPr lang="en-US" sz="4200" b="1">
                <a:solidFill>
                  <a:srgbClr val="C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  <a:p>
              <a:pPr algn="ctr">
                <a:lnSpc>
                  <a:spcPts val="4535"/>
                </a:lnSpc>
              </a:pPr>
            </a:p>
            <a:p>
              <a:pPr algn="ctr">
                <a:lnSpc>
                  <a:spcPts val="4535"/>
                </a:lnSpc>
              </a:pPr>
            </a:p>
            <a:p>
              <a:pPr algn="ctr">
                <a:lnSpc>
                  <a:spcPts val="4535"/>
                </a:lnSpc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-251644" y="481607"/>
            <a:ext cx="13713837" cy="9805393"/>
          </a:xfrm>
          <a:custGeom>
            <a:avLst/>
            <a:gdLst/>
            <a:ahLst/>
            <a:cxnLst/>
            <a:rect l="l" t="t" r="r" b="b"/>
            <a:pathLst>
              <a:path w="13713837" h="9805393">
                <a:moveTo>
                  <a:pt x="0" y="0"/>
                </a:moveTo>
                <a:lnTo>
                  <a:pt x="13713836" y="0"/>
                </a:lnTo>
                <a:lnTo>
                  <a:pt x="13713836" y="9805393"/>
                </a:lnTo>
                <a:lnTo>
                  <a:pt x="0" y="9805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452667" y="1666875"/>
            <a:ext cx="4378228" cy="34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1485" lvl="1" indent="-225425" algn="just">
              <a:lnSpc>
                <a:spcPts val="2510"/>
              </a:lnSpc>
              <a:buFont typeface="Arial" panose="020B0604020202020204"/>
              <a:buChar char="•"/>
            </a:pP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LG is</a:t>
            </a: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th</a:t>
            </a: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 most expensive brand, Midea and ONIDA are the cheapest</a:t>
            </a:r>
            <a:endParaRPr lang="en-US" sz="209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51485" lvl="1" indent="-225425" algn="just">
              <a:lnSpc>
                <a:spcPts val="2510"/>
              </a:lnSpc>
              <a:buFont typeface="Arial" panose="020B0604020202020204"/>
              <a:buChar char="•"/>
            </a:pP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Bigger tonnage ACs cost more — 2 ton is the most expensive</a:t>
            </a:r>
            <a:endParaRPr lang="en-US" sz="209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51485" lvl="1" indent="-225425" algn="just">
              <a:lnSpc>
                <a:spcPts val="2510"/>
              </a:lnSpc>
              <a:buFont typeface="Arial" panose="020B0604020202020204"/>
              <a:buChar char="•"/>
            </a:pP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Higher star rating means higher price — 4 and 5 star ACs cost more</a:t>
            </a:r>
            <a:endParaRPr lang="en-US" sz="209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51485" lvl="1" indent="-225425" algn="just">
              <a:lnSpc>
                <a:spcPts val="2510"/>
              </a:lnSpc>
              <a:buFont typeface="Arial" panose="020B0604020202020204"/>
              <a:buChar char="•"/>
            </a:pP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WiFi ACs are around ₹4,000 to ₹5,000 costlier than non WiFi ACs</a:t>
            </a:r>
            <a:endParaRPr lang="en-US" sz="209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251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13338391" y="964208"/>
            <a:ext cx="460678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</a:t>
            </a: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rvation</a:t>
            </a:r>
            <a:endParaRPr lang="en-US" sz="38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564176" y="9258300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13634957" cy="9763063"/>
          </a:xfrm>
          <a:custGeom>
            <a:avLst/>
            <a:gdLst/>
            <a:ahLst/>
            <a:cxnLst/>
            <a:rect l="l" t="t" r="r" b="b"/>
            <a:pathLst>
              <a:path w="13634957" h="9763063">
                <a:moveTo>
                  <a:pt x="0" y="0"/>
                </a:moveTo>
                <a:lnTo>
                  <a:pt x="13634957" y="0"/>
                </a:lnTo>
                <a:lnTo>
                  <a:pt x="13634957" y="9763063"/>
                </a:lnTo>
                <a:lnTo>
                  <a:pt x="0" y="9763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795496" y="1009650"/>
            <a:ext cx="4378228" cy="410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1485" lvl="1" indent="-225425" algn="just">
              <a:lnSpc>
                <a:spcPts val="2510"/>
              </a:lnSpc>
              <a:buFont typeface="Arial" panose="020B0604020202020204"/>
              <a:buChar char="•"/>
            </a:pP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Price</a:t>
            </a: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has no cl</a:t>
            </a: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ear effect on ratings expensive and cheap ACs are rated similarly</a:t>
            </a:r>
            <a:endParaRPr lang="en-US" sz="209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51485" lvl="1" indent="-225425" algn="just">
              <a:lnSpc>
                <a:spcPts val="2510"/>
              </a:lnSpc>
              <a:buFont typeface="Arial" panose="020B0604020202020204"/>
              <a:buChar char="•"/>
            </a:pP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Budget ACs (₹25k–₹35k) get more reviews more people buy affordable ACs</a:t>
            </a:r>
            <a:endParaRPr lang="en-US" sz="209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51485" lvl="1" indent="-225425" algn="just">
              <a:lnSpc>
                <a:spcPts val="2510"/>
              </a:lnSpc>
              <a:buFont typeface="Arial" panose="020B0604020202020204"/>
              <a:buChar char="•"/>
            </a:pP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</a:t>
            </a: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oltas is the most popular brand with highest number of reviews, realme and Haier least popular</a:t>
            </a:r>
            <a:endParaRPr lang="en-US" sz="209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51485" lvl="1" indent="-225425" algn="just">
              <a:lnSpc>
                <a:spcPts val="2510"/>
              </a:lnSpc>
              <a:buFont typeface="Arial" panose="020B0604020202020204"/>
              <a:buChar char="•"/>
            </a:pPr>
            <a:r>
              <a:rPr lang="en-US" sz="209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1.5 ton ACs get far more reviews than any other size  it's the most purchased capacity</a:t>
            </a:r>
            <a:endParaRPr lang="en-US" sz="209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2510"/>
              </a:lnSpc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13795496" y="428625"/>
            <a:ext cx="460678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</a:t>
            </a:r>
            <a:r>
              <a:rPr lang="en-US" sz="38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rvation</a:t>
            </a:r>
            <a:endParaRPr lang="en-US" sz="38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95288" y="104870"/>
            <a:ext cx="14068574" cy="10182130"/>
          </a:xfrm>
          <a:custGeom>
            <a:avLst/>
            <a:gdLst/>
            <a:ahLst/>
            <a:cxnLst/>
            <a:rect l="l" t="t" r="r" b="b"/>
            <a:pathLst>
              <a:path w="14068574" h="10182130">
                <a:moveTo>
                  <a:pt x="0" y="0"/>
                </a:moveTo>
                <a:lnTo>
                  <a:pt x="14068574" y="0"/>
                </a:lnTo>
                <a:lnTo>
                  <a:pt x="14068574" y="10182130"/>
                </a:lnTo>
                <a:lnTo>
                  <a:pt x="0" y="10182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157664" y="1194869"/>
            <a:ext cx="3901784" cy="375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 indent="-215900" algn="just">
              <a:lnSpc>
                <a:spcPts val="2160"/>
              </a:lnSpc>
              <a:buFont typeface="Arial" panose="020B0604020202020204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Samsung uses the most power (1050W), Midea is the most energy efficient brand (650W)</a:t>
            </a:r>
            <a:endParaRPr lang="en-US" sz="2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31800" lvl="1" indent="-215900" algn="just">
              <a:lnSpc>
                <a:spcPts val="2160"/>
              </a:lnSpc>
              <a:buFont typeface="Arial" panose="020B0604020202020204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3-star ACs consume the most power (~950W), 5-star ACs consume the least (~750W) — star rating works!</a:t>
            </a:r>
            <a:endParaRPr lang="en-US" sz="2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31800" lvl="1" indent="-215900" algn="just">
              <a:lnSpc>
                <a:spcPts val="2160"/>
              </a:lnSpc>
              <a:buFont typeface="Arial" panose="020B0604020202020204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Power usage increases clearly with tonnage — 0.8 ton uses ~550W, 2.0 ton uses ~1200W</a:t>
            </a:r>
            <a:endParaRPr lang="en-US" sz="2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31800" lvl="1" indent="-215900" algn="just">
              <a:lnSpc>
                <a:spcPts val="2160"/>
              </a:lnSpc>
              <a:buFont typeface="Arial" panose="020B0604020202020204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Panasonic and Midea have the best efficiency ratio — they give more cooling per watt used</a:t>
            </a:r>
            <a:endParaRPr lang="en-US" sz="2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14838409" y="578411"/>
            <a:ext cx="2815233" cy="60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5"/>
              </a:lnSpc>
              <a:spcBef>
                <a:spcPct val="0"/>
              </a:spcBef>
            </a:pPr>
            <a:r>
              <a:rPr lang="en-US" sz="42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Observation</a:t>
            </a:r>
            <a:endParaRPr lang="en-US" sz="42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13543256" cy="9920435"/>
          </a:xfrm>
          <a:custGeom>
            <a:avLst/>
            <a:gdLst/>
            <a:ahLst/>
            <a:cxnLst/>
            <a:rect l="l" t="t" r="r" b="b"/>
            <a:pathLst>
              <a:path w="13543256" h="9920435">
                <a:moveTo>
                  <a:pt x="0" y="0"/>
                </a:moveTo>
                <a:lnTo>
                  <a:pt x="13543256" y="0"/>
                </a:lnTo>
                <a:lnTo>
                  <a:pt x="13543256" y="9920435"/>
                </a:lnTo>
                <a:lnTo>
                  <a:pt x="0" y="9920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751859" y="1194869"/>
            <a:ext cx="3901784" cy="482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 indent="-215900" algn="just">
              <a:lnSpc>
                <a:spcPts val="2160"/>
              </a:lnSpc>
              <a:buFont typeface="Arial" panose="020B0604020202020204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WiFi ACs are priced higher across all star ratings — </a:t>
            </a:r>
            <a:r>
              <a:rPr lang="en-US" sz="2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3-star WiFi ACs cost noticeably more than 3-star non WiFi ACs</a:t>
            </a:r>
            <a:endParaRPr lang="en-US" sz="2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31800" lvl="1" indent="-215900" algn="just">
              <a:lnSpc>
                <a:spcPts val="2160"/>
              </a:lnSpc>
              <a:buFont typeface="Arial" panose="020B0604020202020204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5-star ACs consume less power regardless of WiFi — both WiFi and non WiFi 5-star ACs are more energy efficient than 3-star</a:t>
            </a:r>
            <a:endParaRPr lang="en-US" sz="2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31800" lvl="1" indent="-215900" algn="just">
              <a:lnSpc>
                <a:spcPts val="2160"/>
              </a:lnSpc>
              <a:buFont typeface="Arial" panose="020B0604020202020204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Higher priced ACs tend to use more power — because expensive ACs are usually higher tonnage</a:t>
            </a:r>
            <a:endParaRPr lang="en-US" sz="2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31800" lvl="1" indent="-215900" algn="just">
              <a:lnSpc>
                <a:spcPts val="2160"/>
              </a:lnSpc>
              <a:buFont typeface="Arial" panose="020B0604020202020204"/>
              <a:buChar char="•"/>
            </a:pPr>
            <a:r>
              <a:rPr lang="en-US" sz="2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Price has no effect on ratings across any star rating — dots are scattered randomly at all price points</a:t>
            </a:r>
            <a:endParaRPr lang="en-US" sz="2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14444067" y="421767"/>
            <a:ext cx="2815233" cy="60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5"/>
              </a:lnSpc>
              <a:spcBef>
                <a:spcPct val="0"/>
              </a:spcBef>
            </a:pPr>
            <a:r>
              <a:rPr lang="en-US" sz="42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Observation</a:t>
            </a:r>
            <a:endParaRPr lang="en-US" sz="42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530783" y="489110"/>
            <a:ext cx="15459695" cy="5737252"/>
          </a:xfrm>
          <a:custGeom>
            <a:avLst/>
            <a:gdLst/>
            <a:ahLst/>
            <a:cxnLst/>
            <a:rect l="l" t="t" r="r" b="b"/>
            <a:pathLst>
              <a:path w="15459695" h="5737252">
                <a:moveTo>
                  <a:pt x="0" y="0"/>
                </a:moveTo>
                <a:lnTo>
                  <a:pt x="15459696" y="0"/>
                </a:lnTo>
                <a:lnTo>
                  <a:pt x="15459696" y="5737252"/>
                </a:lnTo>
                <a:lnTo>
                  <a:pt x="0" y="573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4" t="-5431" r="-1044" b="-47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37137" y="6104412"/>
            <a:ext cx="2815233" cy="60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5"/>
              </a:lnSpc>
              <a:spcBef>
                <a:spcPct val="0"/>
              </a:spcBef>
            </a:pPr>
            <a:r>
              <a:rPr lang="en-US" sz="4200" b="1">
                <a:solidFill>
                  <a:srgbClr val="C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Observation</a:t>
            </a:r>
            <a:endParaRPr lang="en-US" sz="4200" b="1">
              <a:solidFill>
                <a:srgbClr val="C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7004717"/>
            <a:ext cx="12636747" cy="2587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1185" lvl="1" indent="-295275" algn="just">
              <a:lnSpc>
                <a:spcPts val="2955"/>
              </a:lnSpc>
              <a:buFont typeface="Arial" panose="020B0604020202020204"/>
              <a:buChar char="•"/>
            </a:pPr>
            <a:r>
              <a:rPr lang="en-US" sz="273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Power usage increases with tonnage, showing larger ACs consume more electricity.</a:t>
            </a:r>
            <a:endParaRPr lang="en-US" sz="273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91185" lvl="1" indent="-295275" algn="just">
              <a:lnSpc>
                <a:spcPts val="2955"/>
              </a:lnSpc>
              <a:buFont typeface="Arial" panose="020B0604020202020204"/>
              <a:buChar char="•"/>
            </a:pPr>
            <a:r>
              <a:rPr lang="en-US" sz="273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Price positively correlates with tonnage and room size, meaning bigger ACs cost more.</a:t>
            </a:r>
            <a:endParaRPr lang="en-US" sz="273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91185" lvl="1" indent="-295275" algn="just">
              <a:lnSpc>
                <a:spcPts val="2955"/>
              </a:lnSpc>
              <a:buFont typeface="Arial" panose="020B0604020202020204"/>
              <a:buChar char="•"/>
            </a:pPr>
            <a:r>
              <a:rPr lang="en-US" sz="273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3-Star ACs dominate across most brands, especially Panasonic, Voltas, and Godrej.</a:t>
            </a:r>
            <a:endParaRPr lang="en-US" sz="273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2955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589008" y="1094832"/>
            <a:ext cx="14918712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600" b="1">
                <a:solidFill>
                  <a:srgbClr val="C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KEY INSIGHTS</a:t>
            </a:r>
            <a:endParaRPr lang="en-US" sz="3600" b="1">
              <a:solidFill>
                <a:srgbClr val="C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</a:pPr>
          </a:p>
        </p:txBody>
      </p:sp>
      <p:sp>
        <p:nvSpPr>
          <p:cNvPr id="5" name="TextBox 5"/>
          <p:cNvSpPr txBox="1"/>
          <p:nvPr/>
        </p:nvSpPr>
        <p:spPr>
          <a:xfrm>
            <a:off x="1589008" y="5160645"/>
            <a:ext cx="15632506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C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BUSINESS INSIGHT</a:t>
            </a:r>
            <a:r>
              <a:rPr lang="en-US" sz="3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</a:t>
            </a:r>
            <a:endParaRPr lang="en-US" sz="36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2880"/>
              </a:lnSpc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1560433" y="1956608"/>
            <a:ext cx="13693973" cy="231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LG is the most premium brand, Midea and ONIDA are the most budget friendly</a:t>
            </a:r>
            <a:endParaRPr lang="en-US" sz="3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47700" lvl="1" indent="-323850" algn="just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78.5% ACs on Flipkart do not have WiFi — it is still a premium feature</a:t>
            </a:r>
            <a:endParaRPr lang="en-US" sz="3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47700" lvl="1" indent="-323850" algn="just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Panasonic has the most listings but Voltas has the most customer reviews</a:t>
            </a:r>
            <a:endParaRPr lang="en-US" sz="3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47700" lvl="1" indent="-323850" algn="just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Higher tonnage always means higher price and higher power usage</a:t>
            </a:r>
            <a:endParaRPr lang="en-US" sz="3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47700" lvl="1" indent="-323850" algn="just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Price does not affect ratings — cheap and expensive ACs are rated similarly</a:t>
            </a:r>
            <a:endParaRPr lang="en-US" sz="3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89008" y="5860181"/>
            <a:ext cx="13693973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</a:t>
            </a:r>
            <a:r>
              <a:rPr lang="en-US" sz="3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ocus on 1.5 ton 3-star segment, invest in WiFi and 5-star efficiency to attract premium buyers, and keep prices competitive as Indian customers are price sensitive</a:t>
            </a:r>
            <a:endParaRPr lang="en-US" sz="3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5794762" y="4670822"/>
            <a:ext cx="6698466" cy="4251474"/>
            <a:chOff x="0" y="0"/>
            <a:chExt cx="8931288" cy="56686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31275" cy="5668645"/>
            </a:xfrm>
            <a:custGeom>
              <a:avLst/>
              <a:gdLst/>
              <a:ahLst/>
              <a:cxnLst/>
              <a:rect l="l" t="t" r="r" b="b"/>
              <a:pathLst>
                <a:path w="8931275" h="5668645">
                  <a:moveTo>
                    <a:pt x="0" y="0"/>
                  </a:moveTo>
                  <a:lnTo>
                    <a:pt x="8931275" y="0"/>
                  </a:lnTo>
                  <a:lnTo>
                    <a:pt x="8931275" y="5668645"/>
                  </a:lnTo>
                  <a:lnTo>
                    <a:pt x="0" y="5668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888544" y="1544745"/>
            <a:ext cx="8963454" cy="175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1">
                <a:solidFill>
                  <a:srgbClr val="C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THANK YOU</a:t>
            </a:r>
            <a:endParaRPr lang="en-US" sz="10800" b="1">
              <a:solidFill>
                <a:srgbClr val="C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3896</Words>
  <Application>WPS Presentation</Application>
  <PresentationFormat>On-screen Show (4:3)</PresentationFormat>
  <Paragraphs>136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Times New Roman Bold</vt:lpstr>
      <vt:lpstr>Arial Bold</vt:lpstr>
      <vt:lpstr>Poppins</vt:lpstr>
      <vt:lpstr>Times New Roman</vt:lpstr>
      <vt:lpstr>Poppins Bold</vt:lpstr>
      <vt:lpstr>Arial</vt:lpstr>
      <vt:lpstr>TT Interphases</vt:lpstr>
      <vt:lpstr>Calibri (MS)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Webscraping_project (5).pptx</dc:title>
  <dc:creator/>
  <cp:lastModifiedBy>tarun chouhan</cp:lastModifiedBy>
  <cp:revision>3</cp:revision>
  <dcterms:created xsi:type="dcterms:W3CDTF">2006-08-16T00:00:00Z</dcterms:created>
  <dcterms:modified xsi:type="dcterms:W3CDTF">2026-03-14T07:15:04Z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6724B33F39DD4ECEAE0B8A57AE4EC242_12</vt:lpwstr>
  </property>
  <property fmtid="{D5CDD505-2E9C-101B-9397-08002B2CF9AE}" pid="3" name="KSOProductBuildVer">
    <vt:lpwstr>1033-12.2.0.23196</vt:lpwstr>
  </property>
</Properties>
</file>